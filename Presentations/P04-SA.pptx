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62" r:id="rId2"/>
    <p:sldId id="256" r:id="rId3"/>
    <p:sldId id="257" r:id="rId4"/>
    <p:sldId id="258" r:id="rId5"/>
    <p:sldId id="261" r:id="rId6"/>
    <p:sldId id="259" r:id="rId7"/>
    <p:sldId id="260" r:id="rId8"/>
  </p:sldIdLst>
  <p:sldSz cx="14630400" cy="8229600"/>
  <p:notesSz cx="8229600" cy="14630400"/>
  <p:embeddedFontLst>
    <p:embeddedFont>
      <p:font typeface="Inconsolata" pitchFamily="49" charset="77"/>
      <p:regular r:id="rId10"/>
    </p:embeddedFont>
    <p:embeddedFont>
      <p:font typeface="Montserrat" pitchFamily="2" charset="77"/>
      <p:regular r:id="rId11"/>
      <p:bold r:id="rId12"/>
    </p:embeddedFont>
    <p:embeddedFont>
      <p:font typeface="Montserrat Black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>
        <p:scale>
          <a:sx n="99" d="100"/>
          <a:sy n="99" d="100"/>
        </p:scale>
        <p:origin x="20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9189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5A30FA-9B96-0E39-B601-7487894007B9}"/>
              </a:ext>
            </a:extLst>
          </p:cNvPr>
          <p:cNvSpPr txBox="1"/>
          <p:nvPr/>
        </p:nvSpPr>
        <p:spPr>
          <a:xfrm>
            <a:off x="2785056" y="540914"/>
            <a:ext cx="90602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Montserrat" pitchFamily="2" charset="77"/>
              </a:rPr>
              <a:t>P04 - </a:t>
            </a:r>
            <a:r>
              <a:rPr lang="en-US" sz="9600" dirty="0" err="1">
                <a:latin typeface="Montserrat" pitchFamily="2" charset="77"/>
              </a:rPr>
              <a:t>TradeUp</a:t>
            </a:r>
            <a:endParaRPr lang="en-US" sz="9600" dirty="0"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3B09-12BE-9D87-37E5-36C288B8B3DF}"/>
              </a:ext>
            </a:extLst>
          </p:cNvPr>
          <p:cNvSpPr txBox="1"/>
          <p:nvPr/>
        </p:nvSpPr>
        <p:spPr>
          <a:xfrm>
            <a:off x="5138670" y="2110574"/>
            <a:ext cx="4353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Inconsolata" pitchFamily="49" charset="77"/>
                <a:ea typeface="Inconsolata" pitchFamily="49" charset="77"/>
              </a:rPr>
              <a:t>Stock Trading Simulator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368900-7186-FA03-C064-42E732E85F34}"/>
              </a:ext>
            </a:extLst>
          </p:cNvPr>
          <p:cNvSpPr txBox="1"/>
          <p:nvPr/>
        </p:nvSpPr>
        <p:spPr>
          <a:xfrm>
            <a:off x="2861258" y="5602183"/>
            <a:ext cx="2701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Inconsolata" pitchFamily="49" charset="77"/>
                <a:ea typeface="Inconsolata" pitchFamily="49" charset="77"/>
              </a:rPr>
              <a:t>M. Umar Zubair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56205C-ACB0-2F44-A21A-0A7E38CEC0E9}"/>
              </a:ext>
            </a:extLst>
          </p:cNvPr>
          <p:cNvSpPr txBox="1"/>
          <p:nvPr/>
        </p:nvSpPr>
        <p:spPr>
          <a:xfrm>
            <a:off x="5847544" y="5595807"/>
            <a:ext cx="2935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Inconsolata" pitchFamily="49" charset="77"/>
                <a:ea typeface="Inconsolata" pitchFamily="49" charset="77"/>
              </a:rPr>
              <a:t>M. </a:t>
            </a:r>
            <a:r>
              <a:rPr lang="en-US" sz="2800" dirty="0" err="1">
                <a:latin typeface="Inconsolata" pitchFamily="49" charset="77"/>
                <a:ea typeface="Inconsolata" pitchFamily="49" charset="77"/>
              </a:rPr>
              <a:t>Shahmir</a:t>
            </a:r>
            <a:r>
              <a:rPr lang="en-US" sz="2800" dirty="0">
                <a:latin typeface="Inconsolata" pitchFamily="49" charset="77"/>
                <a:ea typeface="Inconsolata" pitchFamily="49" charset="77"/>
              </a:rPr>
              <a:t> Qazi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E44F53-33DB-E4DA-6EBD-46287EE30266}"/>
              </a:ext>
            </a:extLst>
          </p:cNvPr>
          <p:cNvSpPr txBox="1"/>
          <p:nvPr/>
        </p:nvSpPr>
        <p:spPr>
          <a:xfrm>
            <a:off x="9067795" y="5595807"/>
            <a:ext cx="2701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Inconsolata" pitchFamily="49" charset="77"/>
                <a:ea typeface="Inconsolata" pitchFamily="49" charset="77"/>
              </a:rPr>
              <a:t>M. Rayyan Khan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5A11BC-1B10-8195-9F31-C9F4279093DC}"/>
              </a:ext>
            </a:extLst>
          </p:cNvPr>
          <p:cNvSpPr txBox="1"/>
          <p:nvPr/>
        </p:nvSpPr>
        <p:spPr>
          <a:xfrm>
            <a:off x="4211930" y="6471570"/>
            <a:ext cx="1658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Inconsolata" pitchFamily="49" charset="77"/>
                <a:ea typeface="Inconsolata" pitchFamily="49" charset="77"/>
              </a:rPr>
              <a:t>M. Ahmad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4426BF-D4D1-9F87-739D-8422A00D6FF7}"/>
              </a:ext>
            </a:extLst>
          </p:cNvPr>
          <p:cNvSpPr txBox="1"/>
          <p:nvPr/>
        </p:nvSpPr>
        <p:spPr>
          <a:xfrm>
            <a:off x="6606324" y="6471570"/>
            <a:ext cx="4353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Inconsolata" pitchFamily="49" charset="77"/>
                <a:ea typeface="Inconsolata" pitchFamily="49" charset="77"/>
              </a:rPr>
              <a:t>M. Raiyaan Junaid Hamid</a:t>
            </a:r>
          </a:p>
        </p:txBody>
      </p:sp>
    </p:spTree>
    <p:extLst>
      <p:ext uri="{BB962C8B-B14F-4D97-AF65-F5344CB8AC3E}">
        <p14:creationId xmlns:p14="http://schemas.microsoft.com/office/powerpoint/2010/main" val="995559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872" y="327914"/>
            <a:ext cx="10714655" cy="75737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2095" y="794623"/>
            <a:ext cx="4216718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3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72095" y="1326356"/>
            <a:ext cx="3017877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MVC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572095" y="2140982"/>
            <a:ext cx="3017877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Frontend</a:t>
            </a:r>
            <a:r>
              <a:rPr lang="en-US" sz="2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: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72095" y="2744510"/>
            <a:ext cx="4394835" cy="1865114"/>
          </a:xfrm>
          <a:prstGeom prst="roundRect">
            <a:avLst>
              <a:gd name="adj" fmla="val 3922"/>
            </a:avLst>
          </a:prstGeom>
          <a:solidFill>
            <a:srgbClr val="F8ECE4"/>
          </a:solidFill>
          <a:ln w="1524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56855" y="2744510"/>
            <a:ext cx="60960" cy="1865114"/>
          </a:xfrm>
          <a:prstGeom prst="roundRect">
            <a:avLst>
              <a:gd name="adj" fmla="val 15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3908" y="2910602"/>
            <a:ext cx="26440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Candle-Stick/Stocks View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3908" y="3236833"/>
            <a:ext cx="4016931" cy="1206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main component that displays information on all stocks in a candlestick view and other details interacts with the buy/sell service in the backend, initiating buy/sell orders, and </a:t>
            </a:r>
            <a:r>
              <a:rPr lang="en-US" sz="12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communicates with the stocks API</a:t>
            </a: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to retrieve stock information.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17783" y="2744510"/>
            <a:ext cx="4394835" cy="1865114"/>
          </a:xfrm>
          <a:prstGeom prst="roundRect">
            <a:avLst>
              <a:gd name="adj" fmla="val 3922"/>
            </a:avLst>
          </a:prstGeom>
          <a:solidFill>
            <a:srgbClr val="F8ECE4"/>
          </a:solidFill>
          <a:ln w="1524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102543" y="2744510"/>
            <a:ext cx="60960" cy="1865114"/>
          </a:xfrm>
          <a:prstGeom prst="roundRect">
            <a:avLst>
              <a:gd name="adj" fmla="val 15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29595" y="2910602"/>
            <a:ext cx="188618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Portfolio View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329595" y="3236833"/>
            <a:ext cx="4016931" cy="724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Displays users' purchased stocks and favourite stocks, interacting with the database through the backend using basic CRUD operations.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63470" y="2744510"/>
            <a:ext cx="4394835" cy="1865114"/>
          </a:xfrm>
          <a:prstGeom prst="roundRect">
            <a:avLst>
              <a:gd name="adj" fmla="val 3922"/>
            </a:avLst>
          </a:prstGeom>
          <a:solidFill>
            <a:srgbClr val="F8ECE4"/>
          </a:solidFill>
          <a:ln w="1524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648230" y="2744510"/>
            <a:ext cx="60960" cy="1865114"/>
          </a:xfrm>
          <a:prstGeom prst="roundRect">
            <a:avLst>
              <a:gd name="adj" fmla="val 15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875282" y="2910602"/>
            <a:ext cx="188618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News Information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875282" y="3236833"/>
            <a:ext cx="4016931" cy="965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Shows daily important news fetched through the news api. This directly calls the api, but the content is cached in a Redis DB for faster fetch and fewer API calls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2095" y="4760476"/>
            <a:ext cx="4394835" cy="1382435"/>
          </a:xfrm>
          <a:prstGeom prst="roundRect">
            <a:avLst>
              <a:gd name="adj" fmla="val 5292"/>
            </a:avLst>
          </a:prstGeom>
          <a:solidFill>
            <a:srgbClr val="F8ECE4"/>
          </a:solidFill>
          <a:ln w="1524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56855" y="4760476"/>
            <a:ext cx="60960" cy="1382435"/>
          </a:xfrm>
          <a:prstGeom prst="roundRect">
            <a:avLst>
              <a:gd name="adj" fmla="val 15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3908" y="4926568"/>
            <a:ext cx="188618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Leaderboard View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83908" y="5252799"/>
            <a:ext cx="4016931" cy="724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Tracks and displays top users based on trading performance or achievements.A single user’s rank, score, and performance stats on a leaderboard.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117783" y="4760476"/>
            <a:ext cx="4394835" cy="1382435"/>
          </a:xfrm>
          <a:prstGeom prst="roundRect">
            <a:avLst>
              <a:gd name="adj" fmla="val 5292"/>
            </a:avLst>
          </a:prstGeom>
          <a:solidFill>
            <a:srgbClr val="F8ECE4"/>
          </a:solidFill>
          <a:ln w="1524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02543" y="4760476"/>
            <a:ext cx="60960" cy="1382435"/>
          </a:xfrm>
          <a:prstGeom prst="roundRect">
            <a:avLst>
              <a:gd name="adj" fmla="val 15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29595" y="4926568"/>
            <a:ext cx="188618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Community View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329595" y="5252799"/>
            <a:ext cx="4016931" cy="24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Forums to interact with other users on the app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63470" y="4760476"/>
            <a:ext cx="4394835" cy="1382435"/>
          </a:xfrm>
          <a:prstGeom prst="roundRect">
            <a:avLst>
              <a:gd name="adj" fmla="val 5292"/>
            </a:avLst>
          </a:prstGeom>
          <a:solidFill>
            <a:srgbClr val="F8ECE4"/>
          </a:solidFill>
          <a:ln w="1524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648230" y="4760476"/>
            <a:ext cx="60960" cy="1382435"/>
          </a:xfrm>
          <a:prstGeom prst="roundRect">
            <a:avLst>
              <a:gd name="adj" fmla="val 15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875282" y="4926568"/>
            <a:ext cx="188618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Wallet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875282" y="5252799"/>
            <a:ext cx="4016931" cy="724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Allows user to add virtual credits to their trading account/app account through the virtual currency service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72095" y="6293763"/>
            <a:ext cx="4394835" cy="1141095"/>
          </a:xfrm>
          <a:prstGeom prst="roundRect">
            <a:avLst>
              <a:gd name="adj" fmla="val 6411"/>
            </a:avLst>
          </a:prstGeom>
          <a:solidFill>
            <a:srgbClr val="F8ECE4"/>
          </a:solidFill>
          <a:ln w="1524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6855" y="6293763"/>
            <a:ext cx="60960" cy="1141095"/>
          </a:xfrm>
          <a:prstGeom prst="roundRect">
            <a:avLst>
              <a:gd name="adj" fmla="val 15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83908" y="6459855"/>
            <a:ext cx="188618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Admin View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83908" y="6786086"/>
            <a:ext cx="4016931" cy="482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specialized user with elevated privileges to manage users, content, and system functions.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117783" y="6293763"/>
            <a:ext cx="4394835" cy="1141095"/>
          </a:xfrm>
          <a:prstGeom prst="roundRect">
            <a:avLst>
              <a:gd name="adj" fmla="val 6411"/>
            </a:avLst>
          </a:prstGeom>
          <a:solidFill>
            <a:srgbClr val="F8ECE4"/>
          </a:solidFill>
          <a:ln w="1524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102543" y="6293763"/>
            <a:ext cx="60960" cy="1141095"/>
          </a:xfrm>
          <a:prstGeom prst="roundRect">
            <a:avLst>
              <a:gd name="adj" fmla="val 15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29595" y="6459855"/>
            <a:ext cx="336208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User Account Management View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5329595" y="6721691"/>
            <a:ext cx="4016931" cy="482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Represents a platform user with personal info, login credentials, subscription type, and activity tracking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9663470" y="6293763"/>
            <a:ext cx="4394835" cy="1141095"/>
          </a:xfrm>
          <a:prstGeom prst="roundRect">
            <a:avLst>
              <a:gd name="adj" fmla="val 6411"/>
            </a:avLst>
          </a:prstGeom>
          <a:solidFill>
            <a:srgbClr val="F8ECE4"/>
          </a:solidFill>
          <a:ln w="1524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648230" y="6293763"/>
            <a:ext cx="60960" cy="1141095"/>
          </a:xfrm>
          <a:prstGeom prst="roundRect">
            <a:avLst>
              <a:gd name="adj" fmla="val 15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875282" y="6459855"/>
            <a:ext cx="212443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Authentication View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9875282" y="6786086"/>
            <a:ext cx="4016931" cy="482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Login/Signup System interacts directly with the backend /DB to authenticate the user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2095" y="404455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Backend</a:t>
            </a: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: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72095" y="1421249"/>
            <a:ext cx="493752" cy="740569"/>
          </a:xfrm>
          <a:prstGeom prst="roundRect">
            <a:avLst>
              <a:gd name="adj" fmla="val 36001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143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26400" y="1675805"/>
            <a:ext cx="18514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189196" y="1544598"/>
            <a:ext cx="15430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User Service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9196" y="1811536"/>
            <a:ext cx="1286910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155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Manages user registration, authentication, and profiles. Handles account creation, login, password </a:t>
            </a:r>
          </a:p>
          <a:p>
            <a:pPr marL="0" indent="0" algn="just">
              <a:lnSpc>
                <a:spcPts val="155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resets, and subscription upgrades, interacting directly with the database and authentication tokens.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72095" y="2750603"/>
            <a:ext cx="493752" cy="740569"/>
          </a:xfrm>
          <a:prstGeom prst="roundRect">
            <a:avLst>
              <a:gd name="adj" fmla="val 36001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143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6400" y="3005159"/>
            <a:ext cx="18514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89196" y="2873952"/>
            <a:ext cx="15430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Trading Service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9196" y="3140890"/>
            <a:ext cx="1286910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155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Handles virtual trading operations such as executing buy/sell orders, updating balances, and </a:t>
            </a:r>
          </a:p>
          <a:p>
            <a:pPr marL="0" indent="0" algn="just">
              <a:lnSpc>
                <a:spcPts val="155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calculating portfolio performance. Communicates with the Market Data Service and User Service.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72095" y="4180998"/>
            <a:ext cx="493752" cy="740569"/>
          </a:xfrm>
          <a:prstGeom prst="roundRect">
            <a:avLst>
              <a:gd name="adj" fmla="val 36001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143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6400" y="4435554"/>
            <a:ext cx="18514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9196" y="4304347"/>
            <a:ext cx="169759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Market Data Service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89196" y="4571285"/>
            <a:ext cx="1286910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Fetches and updates real-time and historical stock data through external APIs. Caches prices and </a:t>
            </a:r>
          </a:p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market info for efficient retrieval by trading-related services.</a:t>
            </a:r>
            <a:endParaRPr lang="en-US" sz="2000" dirty="0"/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D64C3BAD-400B-C6E9-377C-99F9919AC309}"/>
              </a:ext>
            </a:extLst>
          </p:cNvPr>
          <p:cNvSpPr/>
          <p:nvPr/>
        </p:nvSpPr>
        <p:spPr>
          <a:xfrm>
            <a:off x="572095" y="5479971"/>
            <a:ext cx="493752" cy="740569"/>
          </a:xfrm>
          <a:prstGeom prst="roundRect">
            <a:avLst>
              <a:gd name="adj" fmla="val 36001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143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7D020FB1-71E2-837B-2CFB-321A804EAD12}"/>
              </a:ext>
            </a:extLst>
          </p:cNvPr>
          <p:cNvSpPr/>
          <p:nvPr/>
        </p:nvSpPr>
        <p:spPr>
          <a:xfrm>
            <a:off x="726400" y="5734527"/>
            <a:ext cx="18514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1450" dirty="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B15A68A2-C45B-2B29-4ED3-7376AD004BBA}"/>
              </a:ext>
            </a:extLst>
          </p:cNvPr>
          <p:cNvSpPr/>
          <p:nvPr/>
        </p:nvSpPr>
        <p:spPr>
          <a:xfrm>
            <a:off x="1189196" y="5603320"/>
            <a:ext cx="184320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 &amp; Analytics Service</a:t>
            </a:r>
            <a:endParaRPr lang="en-US" sz="2000" dirty="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C28F52CC-1851-1874-33B9-FB9B7DF347FB}"/>
              </a:ext>
            </a:extLst>
          </p:cNvPr>
          <p:cNvSpPr/>
          <p:nvPr/>
        </p:nvSpPr>
        <p:spPr>
          <a:xfrm>
            <a:off x="1189196" y="5870258"/>
            <a:ext cx="1286910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Provides market insights, trade recommendations, and sentiment analysis based on user behavior and </a:t>
            </a:r>
          </a:p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news data. Integrates with the Chat Service and Market Data Service.</a:t>
            </a:r>
            <a:endParaRPr lang="en-US" sz="2000" dirty="0">
              <a:solidFill>
                <a:srgbClr val="151617"/>
              </a:solidFill>
              <a:latin typeface="Inconsolata" pitchFamily="34" charset="0"/>
              <a:ea typeface="Inconsolata" pitchFamily="34" charset="-122"/>
            </a:endParaRPr>
          </a:p>
          <a:p>
            <a:pPr marL="0" indent="0" algn="l">
              <a:lnSpc>
                <a:spcPts val="1550"/>
              </a:lnSpc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7">
            <a:extLst>
              <a:ext uri="{FF2B5EF4-FFF2-40B4-BE49-F238E27FC236}">
                <a16:creationId xmlns:a16="http://schemas.microsoft.com/office/drawing/2014/main" id="{DFD26AC0-44F3-B104-0748-8D0D9C18C8EC}"/>
              </a:ext>
            </a:extLst>
          </p:cNvPr>
          <p:cNvSpPr/>
          <p:nvPr/>
        </p:nvSpPr>
        <p:spPr>
          <a:xfrm>
            <a:off x="572095" y="828913"/>
            <a:ext cx="493752" cy="740569"/>
          </a:xfrm>
          <a:prstGeom prst="roundRect">
            <a:avLst>
              <a:gd name="adj" fmla="val 36001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143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18">
            <a:extLst>
              <a:ext uri="{FF2B5EF4-FFF2-40B4-BE49-F238E27FC236}">
                <a16:creationId xmlns:a16="http://schemas.microsoft.com/office/drawing/2014/main" id="{0099E06E-D3B9-588D-8A85-0C6445770255}"/>
              </a:ext>
            </a:extLst>
          </p:cNvPr>
          <p:cNvSpPr/>
          <p:nvPr/>
        </p:nvSpPr>
        <p:spPr>
          <a:xfrm>
            <a:off x="726400" y="1083469"/>
            <a:ext cx="18514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</a:t>
            </a:r>
            <a:endParaRPr lang="en-US" sz="1450" dirty="0"/>
          </a:p>
        </p:txBody>
      </p:sp>
      <p:sp>
        <p:nvSpPr>
          <p:cNvPr id="8" name="Text 19">
            <a:extLst>
              <a:ext uri="{FF2B5EF4-FFF2-40B4-BE49-F238E27FC236}">
                <a16:creationId xmlns:a16="http://schemas.microsoft.com/office/drawing/2014/main" id="{1C5E92D9-1E4B-DBB2-5474-576A70993B04}"/>
              </a:ext>
            </a:extLst>
          </p:cNvPr>
          <p:cNvSpPr/>
          <p:nvPr/>
        </p:nvSpPr>
        <p:spPr>
          <a:xfrm>
            <a:off x="1189196" y="952262"/>
            <a:ext cx="172688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Leaderboard Service</a:t>
            </a:r>
            <a:endParaRPr lang="en-US" sz="2000" dirty="0"/>
          </a:p>
        </p:txBody>
      </p:sp>
      <p:sp>
        <p:nvSpPr>
          <p:cNvPr id="9" name="Text 20">
            <a:extLst>
              <a:ext uri="{FF2B5EF4-FFF2-40B4-BE49-F238E27FC236}">
                <a16:creationId xmlns:a16="http://schemas.microsoft.com/office/drawing/2014/main" id="{E57B7D81-B294-358B-2E8C-A0D4BA66F0DF}"/>
              </a:ext>
            </a:extLst>
          </p:cNvPr>
          <p:cNvSpPr/>
          <p:nvPr/>
        </p:nvSpPr>
        <p:spPr>
          <a:xfrm>
            <a:off x="1189196" y="1219200"/>
            <a:ext cx="1286910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Tracks achievements and leaderboards. Updates user rankings and rewards, interacting with the User </a:t>
            </a:r>
          </a:p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and Notification Services.</a:t>
            </a:r>
            <a:endParaRPr lang="en-US" sz="20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1BCEBCFB-C5B8-FEF6-F51F-37968469BF51}"/>
              </a:ext>
            </a:extLst>
          </p:cNvPr>
          <p:cNvSpPr/>
          <p:nvPr/>
        </p:nvSpPr>
        <p:spPr>
          <a:xfrm>
            <a:off x="572095" y="2235875"/>
            <a:ext cx="493752" cy="740569"/>
          </a:xfrm>
          <a:prstGeom prst="roundRect">
            <a:avLst>
              <a:gd name="adj" fmla="val 36001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143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22">
            <a:extLst>
              <a:ext uri="{FF2B5EF4-FFF2-40B4-BE49-F238E27FC236}">
                <a16:creationId xmlns:a16="http://schemas.microsoft.com/office/drawing/2014/main" id="{0116F4E8-C84C-9904-BDC7-44056343CC03}"/>
              </a:ext>
            </a:extLst>
          </p:cNvPr>
          <p:cNvSpPr/>
          <p:nvPr/>
        </p:nvSpPr>
        <p:spPr>
          <a:xfrm>
            <a:off x="726400" y="2490430"/>
            <a:ext cx="18514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6</a:t>
            </a:r>
            <a:endParaRPr lang="en-US" sz="1450" dirty="0"/>
          </a:p>
        </p:txBody>
      </p:sp>
      <p:sp>
        <p:nvSpPr>
          <p:cNvPr id="12" name="Text 23">
            <a:extLst>
              <a:ext uri="{FF2B5EF4-FFF2-40B4-BE49-F238E27FC236}">
                <a16:creationId xmlns:a16="http://schemas.microsoft.com/office/drawing/2014/main" id="{6FBBB8D2-10B8-91BE-C766-A422981AB8CC}"/>
              </a:ext>
            </a:extLst>
          </p:cNvPr>
          <p:cNvSpPr/>
          <p:nvPr/>
        </p:nvSpPr>
        <p:spPr>
          <a:xfrm>
            <a:off x="1189196" y="2359224"/>
            <a:ext cx="15430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Payment Service</a:t>
            </a:r>
            <a:endParaRPr lang="en-US" sz="2000" dirty="0"/>
          </a:p>
        </p:txBody>
      </p:sp>
      <p:sp>
        <p:nvSpPr>
          <p:cNvPr id="13" name="Text 24">
            <a:extLst>
              <a:ext uri="{FF2B5EF4-FFF2-40B4-BE49-F238E27FC236}">
                <a16:creationId xmlns:a16="http://schemas.microsoft.com/office/drawing/2014/main" id="{B4E5FB7B-1D77-C0A5-B831-9B65025F1812}"/>
              </a:ext>
            </a:extLst>
          </p:cNvPr>
          <p:cNvSpPr/>
          <p:nvPr/>
        </p:nvSpPr>
        <p:spPr>
          <a:xfrm>
            <a:off x="1189196" y="2626162"/>
            <a:ext cx="1286910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Manages subscription billing, in-app currency purchases, and refunds. Connects securely with third-party </a:t>
            </a:r>
          </a:p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payment gateways and updates user balances.</a:t>
            </a:r>
            <a:endParaRPr lang="en-US" sz="2000" dirty="0"/>
          </a:p>
        </p:txBody>
      </p:sp>
      <p:sp>
        <p:nvSpPr>
          <p:cNvPr id="14" name="Shape 25">
            <a:extLst>
              <a:ext uri="{FF2B5EF4-FFF2-40B4-BE49-F238E27FC236}">
                <a16:creationId xmlns:a16="http://schemas.microsoft.com/office/drawing/2014/main" id="{EAE47328-FE85-6050-86CB-B6BF9DB0E8D1}"/>
              </a:ext>
            </a:extLst>
          </p:cNvPr>
          <p:cNvSpPr/>
          <p:nvPr/>
        </p:nvSpPr>
        <p:spPr>
          <a:xfrm>
            <a:off x="572095" y="3494604"/>
            <a:ext cx="493752" cy="740569"/>
          </a:xfrm>
          <a:prstGeom prst="roundRect">
            <a:avLst>
              <a:gd name="adj" fmla="val 36001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143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26">
            <a:extLst>
              <a:ext uri="{FF2B5EF4-FFF2-40B4-BE49-F238E27FC236}">
                <a16:creationId xmlns:a16="http://schemas.microsoft.com/office/drawing/2014/main" id="{00B47997-0C31-9C80-A7C8-4D4298A05262}"/>
              </a:ext>
            </a:extLst>
          </p:cNvPr>
          <p:cNvSpPr/>
          <p:nvPr/>
        </p:nvSpPr>
        <p:spPr>
          <a:xfrm>
            <a:off x="726400" y="3749160"/>
            <a:ext cx="18514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7</a:t>
            </a:r>
            <a:endParaRPr lang="en-US" sz="1450" dirty="0"/>
          </a:p>
        </p:txBody>
      </p:sp>
      <p:sp>
        <p:nvSpPr>
          <p:cNvPr id="16" name="Text 27">
            <a:extLst>
              <a:ext uri="{FF2B5EF4-FFF2-40B4-BE49-F238E27FC236}">
                <a16:creationId xmlns:a16="http://schemas.microsoft.com/office/drawing/2014/main" id="{367ACCE1-8D7A-59BC-C978-F967FA80E1AF}"/>
              </a:ext>
            </a:extLst>
          </p:cNvPr>
          <p:cNvSpPr/>
          <p:nvPr/>
        </p:nvSpPr>
        <p:spPr>
          <a:xfrm>
            <a:off x="1189196" y="3617953"/>
            <a:ext cx="16610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Notification Service</a:t>
            </a:r>
            <a:endParaRPr lang="en-US" sz="2000" dirty="0"/>
          </a:p>
        </p:txBody>
      </p:sp>
      <p:sp>
        <p:nvSpPr>
          <p:cNvPr id="17" name="Text 28">
            <a:extLst>
              <a:ext uri="{FF2B5EF4-FFF2-40B4-BE49-F238E27FC236}">
                <a16:creationId xmlns:a16="http://schemas.microsoft.com/office/drawing/2014/main" id="{130667B4-FE8B-FD1A-524F-C1D01FC85E9A}"/>
              </a:ext>
            </a:extLst>
          </p:cNvPr>
          <p:cNvSpPr/>
          <p:nvPr/>
        </p:nvSpPr>
        <p:spPr>
          <a:xfrm>
            <a:off x="1189196" y="3884891"/>
            <a:ext cx="1286910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Sends alerts and reminders for trades, portfolio updates, achievements, and system messages. Uses </a:t>
            </a:r>
          </a:p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queues and schedulers for reliable delivery.</a:t>
            </a:r>
            <a:endParaRPr lang="en-US" sz="2000" dirty="0"/>
          </a:p>
        </p:txBody>
      </p:sp>
      <p:sp>
        <p:nvSpPr>
          <p:cNvPr id="18" name="Shape 29">
            <a:extLst>
              <a:ext uri="{FF2B5EF4-FFF2-40B4-BE49-F238E27FC236}">
                <a16:creationId xmlns:a16="http://schemas.microsoft.com/office/drawing/2014/main" id="{6F041146-5485-CC95-5875-06F4A9F1200E}"/>
              </a:ext>
            </a:extLst>
          </p:cNvPr>
          <p:cNvSpPr/>
          <p:nvPr/>
        </p:nvSpPr>
        <p:spPr>
          <a:xfrm>
            <a:off x="572095" y="4605100"/>
            <a:ext cx="493752" cy="740569"/>
          </a:xfrm>
          <a:prstGeom prst="roundRect">
            <a:avLst>
              <a:gd name="adj" fmla="val 36001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143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30">
            <a:extLst>
              <a:ext uri="{FF2B5EF4-FFF2-40B4-BE49-F238E27FC236}">
                <a16:creationId xmlns:a16="http://schemas.microsoft.com/office/drawing/2014/main" id="{2B8CA77E-AF85-2C8D-589D-3C1A7C22EA10}"/>
              </a:ext>
            </a:extLst>
          </p:cNvPr>
          <p:cNvSpPr/>
          <p:nvPr/>
        </p:nvSpPr>
        <p:spPr>
          <a:xfrm>
            <a:off x="726400" y="4859656"/>
            <a:ext cx="18514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8</a:t>
            </a:r>
            <a:endParaRPr lang="en-US" sz="1450" dirty="0"/>
          </a:p>
        </p:txBody>
      </p:sp>
      <p:sp>
        <p:nvSpPr>
          <p:cNvPr id="20" name="Text 31">
            <a:extLst>
              <a:ext uri="{FF2B5EF4-FFF2-40B4-BE49-F238E27FC236}">
                <a16:creationId xmlns:a16="http://schemas.microsoft.com/office/drawing/2014/main" id="{58B4C716-AA57-B0D1-3A1E-6EB817BA8A7B}"/>
              </a:ext>
            </a:extLst>
          </p:cNvPr>
          <p:cNvSpPr/>
          <p:nvPr/>
        </p:nvSpPr>
        <p:spPr>
          <a:xfrm>
            <a:off x="1189196" y="4728449"/>
            <a:ext cx="260092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Chat &amp; Communication Service</a:t>
            </a:r>
            <a:endParaRPr lang="en-US" sz="2000" dirty="0"/>
          </a:p>
        </p:txBody>
      </p:sp>
      <p:sp>
        <p:nvSpPr>
          <p:cNvPr id="21" name="Text 32">
            <a:extLst>
              <a:ext uri="{FF2B5EF4-FFF2-40B4-BE49-F238E27FC236}">
                <a16:creationId xmlns:a16="http://schemas.microsoft.com/office/drawing/2014/main" id="{CBCE5578-0F9B-8BEA-F09A-503920A52405}"/>
              </a:ext>
            </a:extLst>
          </p:cNvPr>
          <p:cNvSpPr/>
          <p:nvPr/>
        </p:nvSpPr>
        <p:spPr>
          <a:xfrm>
            <a:off x="1189196" y="4995387"/>
            <a:ext cx="1286910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Handles user and AI chat sessions, storing message history and conversation state. Integrates with </a:t>
            </a:r>
          </a:p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AI &amp; Analytics Service for intelligent responses.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01822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2095" y="340162"/>
            <a:ext cx="10906006" cy="38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Implementation of Non-Functional Requirements in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2095" y="1035963"/>
            <a:ext cx="3229094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Memory Efficiency (Under 4 GB)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72095" y="1391601"/>
            <a:ext cx="12126474" cy="1172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Each ECS container has defined memory limits, ensuring the total resource allocation stays below 4 GB.</a:t>
            </a:r>
          </a:p>
          <a:p>
            <a:pPr marL="285750" indent="-2857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endParaRPr lang="en-US" dirty="0">
              <a:solidFill>
                <a:srgbClr val="151617"/>
              </a:solidFill>
              <a:latin typeface="Inconsolata" pitchFamily="34" charset="0"/>
              <a:ea typeface="Inconsolata" pitchFamily="34" charset="-122"/>
            </a:endParaRPr>
          </a:p>
          <a:p>
            <a:pPr marL="285750" indent="-285750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Aurora Serverless and S3 handle large data offloading from in-memory storage, keeping runtime memory usage minimal.</a:t>
            </a:r>
            <a:endParaRPr lang="en-US" dirty="0"/>
          </a:p>
          <a:p>
            <a:pPr marL="285750" indent="-2857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Redis caching (for stock prices and news data) minimizes repetitive API calls, improving efficiency.</a:t>
            </a:r>
            <a:endParaRPr lang="en-US" dirty="0"/>
          </a:p>
          <a:p>
            <a:pPr algn="l">
              <a:lnSpc>
                <a:spcPts val="1550"/>
              </a:lnSpc>
              <a:buSzPct val="100000"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2095" y="1632704"/>
            <a:ext cx="6592253" cy="395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2095" y="2071688"/>
            <a:ext cx="6592253" cy="19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2095" y="2816693"/>
            <a:ext cx="4730710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High Availability (99% Uptime, ≤2 Failures/Day)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72094" y="3228963"/>
            <a:ext cx="13362847" cy="250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AWS Route 53 provides DNS-level failover and routing between healthy instances.</a:t>
            </a:r>
          </a:p>
          <a:p>
            <a:pPr marL="285750" indent="-2857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endParaRPr lang="en-US" dirty="0">
              <a:solidFill>
                <a:srgbClr val="151617"/>
              </a:solidFill>
              <a:latin typeface="Inconsolata" pitchFamily="34" charset="0"/>
              <a:ea typeface="Inconsolata" pitchFamily="34" charset="-122"/>
            </a:endParaRPr>
          </a:p>
          <a:p>
            <a:pPr marL="285750" indent="-285750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ALB + ECS ensures auto-healing and blue-green deployments.</a:t>
            </a:r>
          </a:p>
          <a:p>
            <a:pPr marL="285750" indent="-285750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endParaRPr lang="en-US" dirty="0">
              <a:solidFill>
                <a:srgbClr val="151617"/>
              </a:solidFill>
              <a:latin typeface="Inconsolata" pitchFamily="34" charset="0"/>
              <a:ea typeface="Inconsolata" pitchFamily="34" charset="-122"/>
            </a:endParaRPr>
          </a:p>
          <a:p>
            <a:pPr marL="285750" indent="-285750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API Gateway and load balancers distribute traffic evenly, preventing bottlenecks.</a:t>
            </a:r>
          </a:p>
          <a:p>
            <a:pPr marL="285750" indent="-285750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endParaRPr lang="en-US" dirty="0">
              <a:solidFill>
                <a:srgbClr val="151617"/>
              </a:solidFill>
              <a:latin typeface="Inconsolata" pitchFamily="34" charset="0"/>
              <a:ea typeface="Inconsolata" pitchFamily="34" charset="-122"/>
            </a:endParaRPr>
          </a:p>
          <a:p>
            <a:pPr marL="285750" indent="-285750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Aurora Serverless offers automatic failover and scaling, ensuring database continuity.</a:t>
            </a:r>
            <a:endParaRPr lang="en-US" dirty="0"/>
          </a:p>
          <a:p>
            <a:pPr marL="285750" indent="-285750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Recovery time objective (RTO) under 15 minutes achieved using ECS restart policies and CloudWatch alarms for </a:t>
            </a:r>
          </a:p>
          <a:p>
            <a:pPr>
              <a:lnSpc>
                <a:spcPts val="1550"/>
              </a:lnSpc>
              <a:buSzPct val="100000"/>
            </a:pPr>
            <a:r>
              <a:rPr lang="en-US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service failures.</a:t>
            </a:r>
            <a:endParaRPr lang="en-US" dirty="0"/>
          </a:p>
          <a:p>
            <a:pPr marL="285750" indent="-285750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2095" y="3712267"/>
            <a:ext cx="6592253" cy="19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1550"/>
              </a:lnSpc>
              <a:buSzPct val="100000"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2095" y="4015345"/>
            <a:ext cx="6592253" cy="19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1550"/>
              </a:lnSpc>
              <a:buSzPct val="100000"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2095" y="5342338"/>
            <a:ext cx="6592253" cy="19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1550"/>
              </a:lnSpc>
              <a:buSzPct val="100000"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2095" y="5583439"/>
            <a:ext cx="6592253" cy="395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50"/>
              </a:lnSpc>
              <a:buSzPct val="100000"/>
            </a:pP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2093" y="5525941"/>
            <a:ext cx="2859881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Maintainability &amp; Modularity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05062" y="5890747"/>
            <a:ext cx="13854882" cy="2164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Each service (e.g., Buy/Sell Service, Community Service, Chat AI Service) is developed, deployed, and updated independently.</a:t>
            </a:r>
          </a:p>
          <a:p>
            <a:pPr marL="285750" indent="-2857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endParaRPr lang="en-US" dirty="0">
              <a:solidFill>
                <a:srgbClr val="151617"/>
              </a:solidFill>
              <a:latin typeface="Inconsolata" pitchFamily="34" charset="0"/>
              <a:ea typeface="Inconsolata" pitchFamily="34" charset="-122"/>
            </a:endParaRPr>
          </a:p>
          <a:p>
            <a:pPr marL="285750" indent="-285750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Microservice modularity aligns with clean code principles, reducing coupling and promoting single-responsibility design.</a:t>
            </a:r>
            <a:endParaRPr lang="en-US" dirty="0"/>
          </a:p>
          <a:p>
            <a:pPr marL="285750" indent="-2857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Rolling updates and CI/CD pipelines (e.g., </a:t>
            </a:r>
            <a:r>
              <a:rPr lang="en-US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CodePipeline</a:t>
            </a:r>
            <a:r>
              <a:rPr lang="en-US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or GitHub Actions) ensure minimal downtime during deployments.</a:t>
            </a:r>
            <a:endParaRPr lang="en-US" dirty="0"/>
          </a:p>
          <a:p>
            <a:pPr marL="285750" indent="-2857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473672" y="8577501"/>
            <a:ext cx="6592253" cy="395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038147" y="5781321"/>
            <a:ext cx="6592253" cy="395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193" y="718542"/>
            <a:ext cx="13074015" cy="1389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Implementation of Security Features in Architecture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778193" y="2886432"/>
            <a:ext cx="4209812" cy="4624626"/>
          </a:xfrm>
          <a:prstGeom prst="roundRect">
            <a:avLst>
              <a:gd name="adj" fmla="val 3475"/>
            </a:avLst>
          </a:prstGeom>
          <a:solidFill>
            <a:srgbClr val="F8ECE4"/>
          </a:solidFill>
          <a:ln/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8193" y="2855952"/>
            <a:ext cx="4209812" cy="121920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49545" y="2552938"/>
            <a:ext cx="667107" cy="667107"/>
          </a:xfrm>
          <a:prstGeom prst="roundRect">
            <a:avLst>
              <a:gd name="adj" fmla="val 137069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689" y="2719745"/>
            <a:ext cx="266819" cy="3334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0962" y="3442335"/>
            <a:ext cx="3704273" cy="69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A01:2021 – Broken Access Control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1030962" y="4270534"/>
            <a:ext cx="3704273" cy="71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Risk: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Unauthorized access to data or admin actions.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0962" y="5115401"/>
            <a:ext cx="3704273" cy="213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Mitigation via Architecture: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“Deny by default” access policy implemented via API Gateway &amp; IAM roles. JWT-based authentication on all endpoints ensures only verified access.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210294" y="2886432"/>
            <a:ext cx="4209812" cy="4624626"/>
          </a:xfrm>
          <a:prstGeom prst="roundRect">
            <a:avLst>
              <a:gd name="adj" fmla="val 3475"/>
            </a:avLst>
          </a:prstGeom>
          <a:solidFill>
            <a:srgbClr val="F8ECE4"/>
          </a:solidFill>
          <a:ln/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210294" y="2855952"/>
            <a:ext cx="4209812" cy="121920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981646" y="2552938"/>
            <a:ext cx="667107" cy="667107"/>
          </a:xfrm>
          <a:prstGeom prst="roundRect">
            <a:avLst>
              <a:gd name="adj" fmla="val 137069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1790" y="2719745"/>
            <a:ext cx="266819" cy="3334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63064" y="3442335"/>
            <a:ext cx="3704273" cy="69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A02:2021 – Cryptographic Failures</a:t>
            </a:r>
            <a:endParaRPr lang="en-US" sz="2150" dirty="0"/>
          </a:p>
        </p:txBody>
      </p:sp>
      <p:sp>
        <p:nvSpPr>
          <p:cNvPr id="15" name="Text 11"/>
          <p:cNvSpPr/>
          <p:nvPr/>
        </p:nvSpPr>
        <p:spPr>
          <a:xfrm>
            <a:off x="5463064" y="4270534"/>
            <a:ext cx="3704273" cy="71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Risk: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Data leakage, secrets loss, or MITM attacks.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5463064" y="5115401"/>
            <a:ext cx="3704273" cy="213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Mitigation via Architecture: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Secrets Manager stores credentials and API keys securely. All communications over HTTPS/TLS. Aurora encrypts data at rest and in transit.</a:t>
            </a:r>
            <a:endParaRPr lang="en-US" sz="1750" dirty="0"/>
          </a:p>
        </p:txBody>
      </p:sp>
      <p:sp>
        <p:nvSpPr>
          <p:cNvPr id="17" name="Shape 13"/>
          <p:cNvSpPr/>
          <p:nvPr/>
        </p:nvSpPr>
        <p:spPr>
          <a:xfrm>
            <a:off x="9642396" y="2886432"/>
            <a:ext cx="4209812" cy="4624626"/>
          </a:xfrm>
          <a:prstGeom prst="roundRect">
            <a:avLst>
              <a:gd name="adj" fmla="val 3475"/>
            </a:avLst>
          </a:prstGeom>
          <a:solidFill>
            <a:srgbClr val="F8ECE4"/>
          </a:solidFill>
          <a:ln/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642396" y="2855952"/>
            <a:ext cx="4209812" cy="121920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11413748" y="2552938"/>
            <a:ext cx="667107" cy="667107"/>
          </a:xfrm>
          <a:prstGeom prst="roundRect">
            <a:avLst>
              <a:gd name="adj" fmla="val 137069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3892" y="2719745"/>
            <a:ext cx="266819" cy="33349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895165" y="3442335"/>
            <a:ext cx="2955965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A03:2021 – Injection</a:t>
            </a:r>
            <a:endParaRPr lang="en-US" sz="2150" dirty="0"/>
          </a:p>
        </p:txBody>
      </p:sp>
      <p:sp>
        <p:nvSpPr>
          <p:cNvPr id="22" name="Text 17"/>
          <p:cNvSpPr/>
          <p:nvPr/>
        </p:nvSpPr>
        <p:spPr>
          <a:xfrm>
            <a:off x="9895165" y="3923109"/>
            <a:ext cx="3704273" cy="71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Risk: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SQL/Command injection leading to data corruption.</a:t>
            </a:r>
            <a:endParaRPr lang="en-US" sz="1750" dirty="0"/>
          </a:p>
        </p:txBody>
      </p:sp>
      <p:sp>
        <p:nvSpPr>
          <p:cNvPr id="23" name="Text 18"/>
          <p:cNvSpPr/>
          <p:nvPr/>
        </p:nvSpPr>
        <p:spPr>
          <a:xfrm>
            <a:off x="9895165" y="4767977"/>
            <a:ext cx="3704273" cy="2490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Mitigation via Architecture: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Services use parameterized queries via ORM (e.g., SQLAlchemy, Prisma). API Gateway sanitizes input before routing. Input validation enforced on backend microservices.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846</Words>
  <Application>Microsoft Macintosh PowerPoint</Application>
  <PresentationFormat>Custom</PresentationFormat>
  <Paragraphs>101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Montserrat</vt:lpstr>
      <vt:lpstr>Inconsolata</vt:lpstr>
      <vt:lpstr>Montserrat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Mohammed Raiyaan Junaid Hamid</cp:lastModifiedBy>
  <cp:revision>2</cp:revision>
  <dcterms:created xsi:type="dcterms:W3CDTF">2025-10-10T07:31:27Z</dcterms:created>
  <dcterms:modified xsi:type="dcterms:W3CDTF">2025-10-10T08:01:25Z</dcterms:modified>
</cp:coreProperties>
</file>